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0"/>
    <p:restoredTop sz="94658"/>
  </p:normalViewPr>
  <p:slideViewPr>
    <p:cSldViewPr snapToGrid="0">
      <p:cViewPr>
        <p:scale>
          <a:sx n="102" d="100"/>
          <a:sy n="102" d="100"/>
        </p:scale>
        <p:origin x="94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6EF6-34E2-CF8A-F6CF-830B0E56B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30BAB-8878-3689-59E8-84CC5A69B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5A44A-0818-A703-4B23-B2DDC4B0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707D6-DE9D-7973-1859-819E6270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0B23-A4B8-998A-415F-3D6CD057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0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BF0F-EBF8-323C-E451-77A79A47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4EF4-7F39-384A-8A1D-9DA2050E6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B15BC-ED75-7078-DBFE-A3FCC04A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001F0-96BC-5201-7666-5424C62A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CB776-AE26-9826-B30E-4FFDFA724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6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115C-F295-0F7A-51B0-DC472AAA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BD750-CFA4-4327-3C1E-9073EEF63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B24A3-BA6E-C80C-12BF-1C318429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CA89A-F997-1ABD-730B-3C3CD233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6A4BF-5D99-ED23-7B8F-F2DF4E16B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90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3A6D-866E-E250-DAFD-9208D005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C7517-5E70-71B1-1EF1-6C331D05A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9B7FF-57F6-C886-6194-ECDD506B1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2D0AB-CAE8-9A66-A923-03616F7D2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015DF-C12C-A93C-5860-D9EBE43E1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938BC-147D-F6A2-0F50-2F7899E8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9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68ECD-4A0B-3DA3-7D2D-12FAA3CBD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BBB7A-8E3C-2600-7AB6-5876012E1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3ABAA-3DA5-8E24-089B-F920ABC87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92656-906B-152D-E2DA-5735D7A689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33B38-4DB2-0341-EA67-AF776B8E3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BD738B-E58F-CBC0-5C3F-20B64DA4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01E0CA-ADD2-DD7D-DAE3-EC8D5C68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B5ECC-5E41-5028-F82D-1AB0A496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4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8BB1A-1CE3-EA89-C692-1BB7C788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26DC51-14CB-EB3C-FE8F-3061F792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CE53C-CC2E-52FB-A9C9-D2E16437C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42FF5-83C9-4656-BA99-E843A9FD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3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EBDAE-DEEB-C669-7A8F-1CFB907A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8BF31-317B-FC7C-8F53-266A2E89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41BBA-EAF6-50FF-000F-BC84FDAE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6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20A5-E0BE-8865-B1FB-C56543A7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FB4AF-E6B7-D9F6-E190-BE19353FD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03C49-FA46-0C27-DB34-7971D4373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8DA20-3FCB-2038-ED90-30803A79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F31C3-F92A-9A2A-568A-2D13A1A18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AEA7F-E7C2-76FF-BD8B-8EE99D7B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3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9D80-21B2-071C-2FAA-28AB7CE48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8AEFCC-B7B0-E659-50FE-CE148ECE3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B7F29-AFE8-3D09-D87F-BB0D68E47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08FB7-4444-0494-8968-77DA86A9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4784-ACEF-D448-FD8B-4508D294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A9CDB-53AF-3E1C-7CBD-90B49D75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0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2AEE-7AEE-DE67-FA11-608995E2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594CB-B46A-A5C3-DF20-EE5CF3C79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85B1B-3304-CEB9-53DA-EA6BCFF0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9028-89AD-B33C-A7B9-6C169E8A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56F87-33D7-19F2-248C-CC42AB57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4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3BF45-7580-BD89-FC20-36707F9FE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D3E50-95B2-28D9-0123-3D79FB694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014CE-8457-8B16-1D33-53C41110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E8C09-3602-1FB3-4CDC-AB72D5D6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A7326-701A-4F45-57F9-C6CAD8AE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9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48F7B-D0B0-55B6-4945-B6321390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84324-A7F7-2790-089F-CCB11D946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FC19-B3ED-32AC-A2A8-4F6A581A5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B8501-2597-BD43-89DA-129FA5C8142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D6F9C-6BF1-CE80-5EB7-0D56C77F3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9C4E5-773B-E278-A11B-0B3063AD3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7B492-8763-B741-B739-62195934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5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physics.osu.edu/people/furnstahl.1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chalmers.se/en/persons/f2bcf/" TargetMode="External"/><Relationship Id="rId2" Type="http://schemas.openxmlformats.org/officeDocument/2006/relationships/hyperlink" Target="https://go.osu.edu/lfd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ucleartalent.github.io/LFD_for_Physicists/LFD_for_Physicists.pdf" TargetMode="External"/><Relationship Id="rId5" Type="http://schemas.openxmlformats.org/officeDocument/2006/relationships/hyperlink" Target="https://jupyterbook.org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ohio.edu/cas/phillid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2C50BB-47B4-ED3D-5188-C9CCE22A5096}"/>
              </a:ext>
            </a:extLst>
          </p:cNvPr>
          <p:cNvSpPr txBox="1"/>
          <p:nvPr/>
        </p:nvSpPr>
        <p:spPr>
          <a:xfrm>
            <a:off x="2076366" y="275942"/>
            <a:ext cx="62765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Learning from data for physicists</a:t>
            </a:r>
          </a:p>
          <a:p>
            <a:pPr algn="ctr"/>
            <a:r>
              <a:rPr lang="en-US" sz="2400" b="1" i="1" dirty="0"/>
              <a:t>   Bayesian and machine learning methods</a:t>
            </a:r>
            <a:endParaRPr lang="en-US" sz="2400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D389CAC6-9FC0-B0F8-E7E3-889A63177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880" y="285914"/>
            <a:ext cx="1745216" cy="1745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15AE08-879A-DC29-6A1E-DEF8A6FDCEE1}"/>
              </a:ext>
            </a:extLst>
          </p:cNvPr>
          <p:cNvSpPr txBox="1"/>
          <p:nvPr/>
        </p:nvSpPr>
        <p:spPr>
          <a:xfrm>
            <a:off x="9806469" y="2068708"/>
            <a:ext cx="234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https://go.osu.edu/lfd</a:t>
            </a:r>
            <a:endParaRPr lang="en-US" dirty="0"/>
          </a:p>
        </p:txBody>
      </p:sp>
      <p:pic>
        <p:nvPicPr>
          <p:cNvPr id="7" name="Picture 6" descr="Combined Learning from Data materials - Home">
            <a:extLst>
              <a:ext uri="{FF2B5EF4-FFF2-40B4-BE49-F238E27FC236}">
                <a16:creationId xmlns:a16="http://schemas.microsoft.com/office/drawing/2014/main" id="{4CB01D3A-2F71-C815-CDD8-B2638C6EA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23" y="343738"/>
            <a:ext cx="1502406" cy="12141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B2412C-DBC9-855F-334F-B6FDBD8798B8}"/>
              </a:ext>
            </a:extLst>
          </p:cNvPr>
          <p:cNvSpPr txBox="1"/>
          <p:nvPr/>
        </p:nvSpPr>
        <p:spPr>
          <a:xfrm>
            <a:off x="276023" y="1780610"/>
            <a:ext cx="9184775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This text is aimed at physicists seeking to learn from data using Bayesian methods. It is designed primarily for use in an advanced-level course but should also be broadly accessible for individual study to those with a physics background.</a:t>
            </a:r>
            <a:endParaRPr lang="en-US" sz="20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31BF2-0D71-F2FD-6B33-BD9958FD196E}"/>
              </a:ext>
            </a:extLst>
          </p:cNvPr>
          <p:cNvSpPr txBox="1"/>
          <p:nvPr/>
        </p:nvSpPr>
        <p:spPr>
          <a:xfrm>
            <a:off x="276023" y="2901831"/>
            <a:ext cx="11705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book format is powered by </a:t>
            </a:r>
            <a:r>
              <a:rPr lang="en-US" sz="2000" dirty="0">
                <a:hlinkClick r:id="rId5"/>
              </a:rPr>
              <a:t>Jupyter Book</a:t>
            </a:r>
            <a:r>
              <a:rPr lang="en-US" sz="2000" dirty="0"/>
              <a:t>. The </a:t>
            </a:r>
            <a:r>
              <a:rPr lang="en-US" sz="2000" dirty="0">
                <a:hlinkClick r:id="rId6"/>
              </a:rPr>
              <a:t>complete book as pdf</a:t>
            </a:r>
            <a:r>
              <a:rPr lang="en-US" sz="2000" dirty="0"/>
              <a:t> (&gt;900 pages) is also available.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6ADDA6-4A60-A58D-D00C-D0C00254741C}"/>
              </a:ext>
            </a:extLst>
          </p:cNvPr>
          <p:cNvSpPr txBox="1"/>
          <p:nvPr/>
        </p:nvSpPr>
        <p:spPr>
          <a:xfrm>
            <a:off x="150763" y="3457184"/>
            <a:ext cx="11909114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Major parts:</a:t>
            </a:r>
            <a:r>
              <a:rPr lang="en-US" sz="2400" dirty="0"/>
              <a:t> </a:t>
            </a:r>
            <a:r>
              <a:rPr lang="en-US" sz="2400" b="1" dirty="0"/>
              <a:t>Bayesian methods for scientific modeling; Advanced Bayesian methods;</a:t>
            </a:r>
            <a:br>
              <a:rPr lang="en-US" sz="2400" b="1" dirty="0"/>
            </a:br>
            <a:r>
              <a:rPr lang="en-US" sz="2400" b="1" dirty="0"/>
              <a:t>                        MCMC sampling; Machine learning basics; Probabilistic machine learning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5EA82E-708B-0521-1459-D4865DEA632E}"/>
              </a:ext>
            </a:extLst>
          </p:cNvPr>
          <p:cNvSpPr txBox="1"/>
          <p:nvPr/>
        </p:nvSpPr>
        <p:spPr>
          <a:xfrm>
            <a:off x="3341834" y="1190495"/>
            <a:ext cx="6118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by 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  <a:hlinkClick r:id="rId7"/>
              </a:rPr>
              <a:t>Christian Forssén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  <a:hlinkClick r:id="rId8"/>
              </a:rPr>
              <a:t>Dick Furnstahl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and 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  <a:hlinkClick r:id="rId9"/>
              </a:rPr>
              <a:t>Daniel Phillips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ABFFF0-541D-CCD5-8021-2D61AAF2BFB3}"/>
              </a:ext>
            </a:extLst>
          </p:cNvPr>
          <p:cNvSpPr txBox="1"/>
          <p:nvPr/>
        </p:nvSpPr>
        <p:spPr>
          <a:xfrm>
            <a:off x="299731" y="4328677"/>
            <a:ext cx="116111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Features:</a:t>
            </a: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Demonstration code and notebooks are integrated in the Jupyter Book.</a:t>
            </a: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Four types of problems: checkpoints (dropdown hints and answers); exercises (answers at end of sections); guided problems (</a:t>
            </a:r>
            <a:r>
              <a:rPr lang="en-US" sz="2400" dirty="0" err="1"/>
              <a:t>ipynb</a:t>
            </a:r>
            <a:r>
              <a:rPr lang="en-US" sz="2400" dirty="0"/>
              <a:t>); projects (complex </a:t>
            </a:r>
            <a:r>
              <a:rPr lang="en-US" sz="2400"/>
              <a:t>problems).</a:t>
            </a:r>
            <a:endParaRPr lang="en-US" sz="2400" dirty="0"/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Interactive widgets: pdf explorer; Bayesian coin tossing; credible intervals; bivariate gaussians; gaussian processes; MCMC simulations;  and more being added!</a:t>
            </a:r>
            <a:br>
              <a:rPr lang="en-US" sz="2400" dirty="0"/>
            </a:b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685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190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Furnstahl, Dick</dc:creator>
  <cp:lastModifiedBy>Furnstahl, Dick</cp:lastModifiedBy>
  <cp:revision>6</cp:revision>
  <dcterms:created xsi:type="dcterms:W3CDTF">2026-08-30T14:38:33Z</dcterms:created>
  <dcterms:modified xsi:type="dcterms:W3CDTF">2026-08-30T15:19:41Z</dcterms:modified>
</cp:coreProperties>
</file>